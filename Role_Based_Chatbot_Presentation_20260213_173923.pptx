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 rot="1800000">
            <a:off x="7315200" y="457200"/>
            <a:ext cx="1371600" cy="1371600"/>
          </a:xfrm>
          <a:prstGeom prst="roundRect">
            <a:avLst/>
          </a:prstGeom>
          <a:solidFill>
            <a:srgbClr val="585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 rot="900000">
            <a:off x="457200" y="5029200"/>
            <a:ext cx="1097280" cy="1097280"/>
          </a:xfrm>
          <a:prstGeom prst="roundRect">
            <a:avLst/>
          </a:prstGeom>
          <a:solidFill>
            <a:srgbClr val="FF47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ROLE-BASED ACCESS CHATBOT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AFFD9"/>
                </a:solidFill>
              </a:defRPr>
            </a:pPr>
            <a:r>
              <a:t>AI-POWERED</a:t>
            </a:r>
          </a:p>
          <a:p>
            <a:pPr algn="ctr">
              <a:defRPr sz="2400">
                <a:solidFill>
                  <a:srgbClr val="FFFFFF"/>
                </a:solidFill>
              </a:defRPr>
            </a:pPr>
            <a:r>
              <a:t>SEMANTIC SEARCH FOR COMPANY DOCUMENTS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3AFFD9"/>
                </a:solidFill>
              </a:defRPr>
            </a:pPr>
            <a:r>
              <a:t>THYNK UNLIMITED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WE LEARN FOR THE FUTURE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5856D6"/>
                </a:solidFill>
              </a:defRPr>
            </a:pPr>
            <a:r>
              <a:t>PROBLEM &amp;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840480" cy="41148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F47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2400" b="1">
                <a:solidFill>
                  <a:srgbClr val="FF4785"/>
                </a:solidFill>
              </a:defRPr>
            </a:pPr>
            <a:r>
              <a:t>Problem:</a:t>
            </a:r>
          </a:p>
          <a:p>
            <a:br/>
            <a:pPr>
              <a:spcAft>
                <a:spcPts val="1000"/>
              </a:spcAft>
              <a:defRPr sz="1400">
                <a:solidFill>
                  <a:srgbClr val="2D3748"/>
                </a:solidFill>
              </a:defRPr>
            </a:pPr>
            <a:r>
              <a:t>• Internal company data scattered across departments</a:t>
            </a:r>
          </a:p>
          <a:p>
            <a:pPr>
              <a:spcAft>
                <a:spcPts val="1000"/>
              </a:spcAft>
              <a:defRPr sz="1400">
                <a:solidFill>
                  <a:srgbClr val="2D3748"/>
                </a:solidFill>
              </a:defRPr>
            </a:pPr>
            <a:r>
              <a:t>• No role-based access control for sensitive information</a:t>
            </a:r>
          </a:p>
          <a:p>
            <a:pPr>
              <a:spcAft>
                <a:spcPts val="1000"/>
              </a:spcAft>
              <a:defRPr sz="1400">
                <a:solidFill>
                  <a:srgbClr val="2D3748"/>
                </a:solidFill>
              </a:defRPr>
            </a:pPr>
            <a:r>
              <a:t>• Traditional keyword search fails to understand context</a:t>
            </a:r>
          </a:p>
          <a:p>
            <a:pPr>
              <a:defRPr sz="1400">
                <a:solidFill>
                  <a:srgbClr val="2D3748"/>
                </a:solidFill>
              </a:defRPr>
            </a:pPr>
            <a:r>
              <a:t>• Security risks with unrestricted document access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46320" y="1371600"/>
            <a:ext cx="3840480" cy="41148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2400" b="1">
                <a:solidFill>
                  <a:srgbClr val="2ED573"/>
                </a:solidFill>
              </a:defRPr>
            </a:pPr>
            <a:r>
              <a:t>Solution:</a:t>
            </a:r>
          </a:p>
          <a:p>
            <a:br/>
            <a:pPr>
              <a:spcAft>
                <a:spcPts val="1000"/>
              </a:spcAft>
              <a:defRPr sz="1400">
                <a:solidFill>
                  <a:srgbClr val="2D3748"/>
                </a:solidFill>
              </a:defRPr>
            </a:pPr>
            <a:r>
              <a:t>• AI-powered semantic search with RAG pipeline</a:t>
            </a:r>
          </a:p>
          <a:p>
            <a:pPr>
              <a:spcAft>
                <a:spcPts val="1000"/>
              </a:spcAft>
              <a:defRPr sz="1400">
                <a:solidFill>
                  <a:srgbClr val="2D3748"/>
                </a:solidFill>
              </a:defRPr>
            </a:pPr>
            <a:r>
              <a:t>• Granular role-based access control (RBAC)</a:t>
            </a:r>
          </a:p>
          <a:p>
            <a:pPr>
              <a:spcAft>
                <a:spcPts val="1000"/>
              </a:spcAft>
              <a:defRPr sz="1400">
                <a:solidFill>
                  <a:srgbClr val="2D3748"/>
                </a:solidFill>
              </a:defRPr>
            </a:pPr>
            <a:r>
              <a:t>• Context-aware responses using Mistral 7B LLM</a:t>
            </a:r>
          </a:p>
          <a:p>
            <a:pPr>
              <a:defRPr sz="1400">
                <a:solidFill>
                  <a:srgbClr val="2D3748"/>
                </a:solidFill>
              </a:defRPr>
            </a:pPr>
            <a:r>
              <a:t>• Source attribution &amp; confidence scoring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5856D6"/>
                </a:solidFill>
              </a:defRPr>
            </a:pPr>
            <a:r>
              <a:t>KEY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7315200" cy="100584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FF47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78308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8288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4785"/>
                </a:solidFill>
              </a:defRPr>
            </a:pPr>
            <a:r>
              <a:t>RBAC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21945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3748"/>
                </a:solidFill>
              </a:defRPr>
            </a:pPr>
            <a:r>
              <a:t>Department-based access control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834640"/>
            <a:ext cx="7315200" cy="100584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585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97180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30175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5856D6"/>
                </a:solidFill>
              </a:defRPr>
            </a:pPr>
            <a:r>
              <a:t>LLM-Powered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33832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3748"/>
                </a:solidFill>
              </a:defRPr>
            </a:pPr>
            <a:r>
              <a:t>Mistral 7B for intelligent responses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023360"/>
            <a:ext cx="7315200" cy="100584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16052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42062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D573"/>
                </a:solidFill>
              </a:defRPr>
            </a:pPr>
            <a:r>
              <a:t>Source Attribution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45720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3748"/>
                </a:solidFill>
              </a:defRPr>
            </a:pPr>
            <a:r>
              <a:t>Citations with confidence scoring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5212080"/>
            <a:ext cx="7315200" cy="100584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534924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53949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8C00"/>
                </a:solidFill>
              </a:defRPr>
            </a:pPr>
            <a:r>
              <a:t>High Performance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57607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3748"/>
                </a:solidFill>
              </a:defRPr>
            </a:pPr>
            <a:r>
              <a:t>~20ms search, ~2.5s total response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5856D6"/>
                </a:solidFill>
              </a:defRPr>
            </a:pPr>
            <a:r>
              <a:t>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1097280" cy="914400"/>
          </a:xfrm>
          <a:prstGeom prst="roundRect">
            <a:avLst/>
          </a:prstGeom>
          <a:solidFill>
            <a:srgbClr val="585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97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User</a:t>
            </a:r>
            <a:br/>
            <a:r>
              <a:t>Query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828800" y="2697480"/>
            <a:ext cx="137160" cy="91440"/>
          </a:xfrm>
          <a:prstGeom prst="rightArrow">
            <a:avLst/>
          </a:prstGeom>
          <a:solidFill>
            <a:srgbClr val="585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011680" y="2286000"/>
            <a:ext cx="1097280" cy="914400"/>
          </a:xfrm>
          <a:prstGeom prst="roundRect">
            <a:avLst/>
          </a:prstGeom>
          <a:solidFill>
            <a:srgbClr val="FF47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237744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743200"/>
            <a:ext cx="1097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Auth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108960" y="2697480"/>
            <a:ext cx="137160" cy="91440"/>
          </a:xfrm>
          <a:prstGeom prst="rightArrow">
            <a:avLst/>
          </a:prstGeom>
          <a:solidFill>
            <a:srgbClr val="FF47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00400" y="2286000"/>
            <a:ext cx="1097280" cy="914400"/>
          </a:xfrm>
          <a:prstGeom prst="round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237744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🛡️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743200"/>
            <a:ext cx="1097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RBAC</a:t>
            </a:r>
            <a:br/>
            <a:r>
              <a:t>Filter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297680" y="2697480"/>
            <a:ext cx="137160" cy="91440"/>
          </a:xfrm>
          <a:prstGeom prst="rightArrow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480560" y="2286000"/>
            <a:ext cx="1097280" cy="914400"/>
          </a:xfrm>
          <a:prstGeom prst="roundRect">
            <a:avLst/>
          </a:prstGeom>
          <a:solidFill>
            <a:srgbClr val="2ED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237744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743200"/>
            <a:ext cx="1097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Semantic</a:t>
            </a:r>
            <a:br/>
            <a:r>
              <a:t>Search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577840" y="2697480"/>
            <a:ext cx="137160" cy="91440"/>
          </a:xfrm>
          <a:prstGeom prst="rightArrow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760720" y="2286000"/>
            <a:ext cx="1097280" cy="914400"/>
          </a:xfrm>
          <a:prstGeom prst="roundRect">
            <a:avLst/>
          </a:prstGeom>
          <a:solidFill>
            <a:srgbClr val="8A2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20" y="237744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2743200"/>
            <a:ext cx="1097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Context</a:t>
            </a:r>
            <a:br/>
            <a:r>
              <a:t>Builder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6858000" y="2697480"/>
            <a:ext cx="137160" cy="91440"/>
          </a:xfrm>
          <a:prstGeom prst="rightArrow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0" y="2286000"/>
            <a:ext cx="1097280" cy="914400"/>
          </a:xfrm>
          <a:prstGeom prst="roundRect">
            <a:avLst/>
          </a:prstGeom>
          <a:solidFill>
            <a:srgbClr val="585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0" y="237744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2743200"/>
            <a:ext cx="1097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LLM</a:t>
            </a:r>
            <a:br/>
            <a:r>
              <a:t>Generate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8046719" y="2697480"/>
            <a:ext cx="137160" cy="91440"/>
          </a:xfrm>
          <a:prstGeom prst="rightArrow">
            <a:avLst/>
          </a:prstGeom>
          <a:solidFill>
            <a:srgbClr val="585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29600" y="2286000"/>
            <a:ext cx="1097280" cy="914400"/>
          </a:xfrm>
          <a:prstGeom prst="roundRect">
            <a:avLst/>
          </a:prstGeom>
          <a:solidFill>
            <a:srgbClr val="3AF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237744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743200"/>
            <a:ext cx="1097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Response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80560" y="3840480"/>
            <a:ext cx="1097280" cy="731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0" y="39776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2D3748"/>
                </a:solidFill>
              </a:defRPr>
            </a:pPr>
            <a:r>
              <a:t>ChromaDB</a:t>
            </a:r>
            <a:br/>
            <a:r>
              <a:t>135 documents</a:t>
            </a:r>
            <a:br/>
            <a:r>
              <a:t>384 dims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0" y="3200400"/>
            <a:ext cx="18288" cy="640080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949440" y="3840480"/>
            <a:ext cx="1097280" cy="731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85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0879" y="39776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2D3748"/>
                </a:solidFill>
              </a:defRPr>
            </a:pPr>
            <a:r>
              <a:t>Mistral 7B</a:t>
            </a:r>
            <a:br/>
            <a:r>
              <a:t>OpenRouter API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98079" y="3200400"/>
            <a:ext cx="18288" cy="640080"/>
          </a:xfrm>
          <a:prstGeom prst="rect">
            <a:avLst/>
          </a:prstGeom>
          <a:solidFill>
            <a:srgbClr val="585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011680" y="3840480"/>
            <a:ext cx="1097280" cy="731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47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103120" y="39776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2D3748"/>
                </a:solidFill>
              </a:defRPr>
            </a:pPr>
            <a:r>
              <a:t>SQLite</a:t>
            </a:r>
            <a:br/>
            <a:r>
              <a:t>User DB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560320" y="3200400"/>
            <a:ext cx="18288" cy="640080"/>
          </a:xfrm>
          <a:prstGeom prst="rect">
            <a:avLst/>
          </a:prstGeom>
          <a:solidFill>
            <a:srgbClr val="FF47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0" y="502920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8C00"/>
                </a:solidFill>
              </a:defRPr>
            </a:pPr>
            <a:r>
              <a:t>⚡ ~20ms search  |  ~1.5-3.5s total response time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5856D6"/>
                </a:solidFill>
              </a:defRPr>
            </a:pPr>
            <a:r>
              <a:t>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657600" cy="1828800"/>
          </a:xfrm>
          <a:prstGeom prst="roundRect">
            <a:avLst/>
          </a:prstGeom>
          <a:solidFill>
            <a:srgbClr val="F8FAFC"/>
          </a:solidFill>
          <a:ln w="38100">
            <a:solidFill>
              <a:srgbClr val="585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5856D6"/>
                </a:solidFill>
              </a:defRPr>
            </a:pPr>
            <a:r>
              <a:t>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</a:defRPr>
            </a:pPr>
            <a:r>
              <a:t>• FastAPI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</a:defRPr>
            </a:pPr>
            <a:r>
              <a:t>• Python 3.8+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</a:defRPr>
            </a:pPr>
            <a:r>
              <a:t>• SQLAlchemy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</a:defRPr>
            </a:pPr>
            <a:r>
              <a:t>• JWT Authentication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1645920"/>
            <a:ext cx="3657600" cy="1828800"/>
          </a:xfrm>
          <a:prstGeom prst="roundRect">
            <a:avLst/>
          </a:prstGeom>
          <a:solidFill>
            <a:srgbClr val="F8FAFC"/>
          </a:solidFill>
          <a:ln w="38100">
            <a:solidFill>
              <a:srgbClr val="FF47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0" y="182880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4785"/>
                </a:solidFill>
              </a:defRPr>
            </a:pPr>
            <a:r>
              <a:t>AI/ML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228600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</a:defRPr>
            </a:pPr>
            <a:r>
              <a:t>• Mistral 7B (OpenRouter)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</a:defRPr>
            </a:pPr>
            <a:r>
              <a:t>• sentence-transformers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</a:defRPr>
            </a:pPr>
            <a:r>
              <a:t>• MiniLM-L6-v2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3657600" cy="1828800"/>
          </a:xfrm>
          <a:prstGeom prst="roundRect">
            <a:avLst/>
          </a:prstGeom>
          <a:solidFill>
            <a:srgbClr val="F8FAFC"/>
          </a:solidFill>
          <a:ln w="3810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29768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D573"/>
                </a:solidFill>
              </a:defRPr>
            </a:pPr>
            <a:r>
              <a:t>Database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75488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</a:defRPr>
            </a:pPr>
            <a:r>
              <a:t>• ChromaDB (Vector Store)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</a:defRPr>
            </a:pPr>
            <a:r>
              <a:t>• SQLite (User DB)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</a:defRPr>
            </a:pPr>
            <a:r>
              <a:t>• 135 Indexed Documents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46320" y="4114800"/>
            <a:ext cx="3657600" cy="1828800"/>
          </a:xfrm>
          <a:prstGeom prst="roundRect">
            <a:avLst/>
          </a:prstGeom>
          <a:solidFill>
            <a:srgbClr val="F8FAFC"/>
          </a:solidFill>
          <a:ln w="381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429768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8C00"/>
                </a:solidFill>
              </a:defRPr>
            </a:pPr>
            <a:r>
              <a:t>Security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475488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</a:defRPr>
            </a:pPr>
            <a:r>
              <a:t>• RBAC Middleware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</a:defRPr>
            </a:pPr>
            <a:r>
              <a:t>• JWT Tokens</a:t>
            </a:r>
          </a:p>
          <a:p>
            <a:pPr>
              <a:spcAft>
                <a:spcPts val="500"/>
              </a:spcAft>
              <a:defRPr sz="1200">
                <a:solidFill>
                  <a:srgbClr val="2D3748"/>
                </a:solidFill>
              </a:defRPr>
            </a:pPr>
            <a:r>
              <a:t>• Department-based Filtering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5856D6"/>
                </a:solidFill>
              </a:defRPr>
            </a:pPr>
            <a:r>
              <a:t>ROLE-BASED ACCESS CONTROL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463040"/>
            <a:ext cx="640080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6002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D573"/>
                </a:solidFill>
              </a:defRPr>
            </a:pPr>
            <a:r>
              <a:t>Finance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16002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748"/>
                </a:solidFill>
              </a:defRPr>
            </a:pPr>
            <a:r>
              <a:t>• Financial Reports</a:t>
            </a:r>
            <a:br/>
            <a:r>
              <a:t>• Quarterly Statements</a:t>
            </a:r>
            <a:br/>
            <a:r>
              <a:t>• Budget Documents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423160"/>
            <a:ext cx="640080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47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256032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4785"/>
                </a:solidFill>
              </a:defRPr>
            </a:pPr>
            <a:r>
              <a:t>HR Department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603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748"/>
                </a:solidFill>
              </a:defRPr>
            </a:pPr>
            <a:r>
              <a:t>• Employee Data</a:t>
            </a:r>
            <a:br/>
            <a:r>
              <a:t>• Payroll Information</a:t>
            </a:r>
            <a:br/>
            <a:r>
              <a:t>• HR Policies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3383280"/>
            <a:ext cx="640080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352044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8C00"/>
                </a:solidFill>
              </a:defRPr>
            </a:pPr>
            <a:r>
              <a:t>Marketing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35204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748"/>
                </a:solidFill>
              </a:defRPr>
            </a:pPr>
            <a:r>
              <a:t>• Marketing Reports</a:t>
            </a:r>
            <a:br/>
            <a:r>
              <a:t>• Campaign Analytics</a:t>
            </a:r>
            <a:br/>
            <a:r>
              <a:t>• Market Research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4343400"/>
            <a:ext cx="640080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85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0" y="448056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5856D6"/>
                </a:solidFill>
              </a:defRPr>
            </a:pPr>
            <a:r>
              <a:t>Engineering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44805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748"/>
                </a:solidFill>
              </a:defRPr>
            </a:pPr>
            <a:r>
              <a:t>• Technical Docs</a:t>
            </a:r>
            <a:br/>
            <a:r>
              <a:t>• Architecture Plans</a:t>
            </a:r>
            <a:br/>
            <a:r>
              <a:t>• API Documentation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5303520"/>
            <a:ext cx="640080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AF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0" y="544068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AFFD9"/>
                </a:solidFill>
              </a:defRPr>
            </a:pPr>
            <a:r>
              <a:t>General Access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54406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748"/>
                </a:solidFill>
              </a:defRPr>
            </a:pPr>
            <a:r>
              <a:t>• Company Handbook</a:t>
            </a:r>
            <a:br/>
            <a:r>
              <a:t>• General Policies</a:t>
            </a:r>
            <a:br/>
            <a:r>
              <a:t>• Public Resources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5856D6"/>
                </a:solidFill>
              </a:defRPr>
            </a:pPr>
            <a:r>
              <a:t>PERFORMANCE METRICS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828800"/>
            <a:ext cx="3200400" cy="1645920"/>
          </a:xfrm>
          <a:prstGeom prst="round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32004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~20ms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83464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Semantic Search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828800"/>
            <a:ext cx="3200400" cy="1645920"/>
          </a:xfrm>
          <a:prstGeom prst="roundRect">
            <a:avLst/>
          </a:prstGeom>
          <a:solidFill>
            <a:srgbClr val="585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2103120"/>
            <a:ext cx="32004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~1.5-3.5s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283464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End-to-End Response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4114800"/>
            <a:ext cx="3200400" cy="164592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389120"/>
            <a:ext cx="32004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135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12064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Indexed Documents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4114800"/>
            <a:ext cx="3200400" cy="1645920"/>
          </a:xfrm>
          <a:prstGeom prst="roundRect">
            <a:avLst/>
          </a:prstGeom>
          <a:solidFill>
            <a:srgbClr val="FF47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4389120"/>
            <a:ext cx="32004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384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512064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Embedding Dimensions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5856D6"/>
                </a:solidFill>
              </a:defRPr>
            </a:pPr>
            <a:r>
              <a:t>RAG PIPELINE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7315200" cy="685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85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78308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856D6"/>
                </a:solidFill>
              </a:defRPr>
            </a:pPr>
            <a:r>
              <a:t>1. Query Processing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78308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748"/>
                </a:solidFill>
              </a:defRPr>
            </a:pPr>
            <a:r>
              <a:t>User query analyzed and embedded using MiniLM-L6-v2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468880"/>
            <a:ext cx="7315200" cy="685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47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60604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4785"/>
                </a:solidFill>
              </a:defRPr>
            </a:pPr>
            <a:r>
              <a:t>2. Semantic 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60604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748"/>
                </a:solidFill>
              </a:defRPr>
            </a:pPr>
            <a:r>
              <a:t>ChromaDB finds top-k relevant documents with cosine similarity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291840"/>
            <a:ext cx="7315200" cy="685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42900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8C00"/>
                </a:solidFill>
              </a:defRPr>
            </a:pPr>
            <a:r>
              <a:t>3. RBAC Filtering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4290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748"/>
                </a:solidFill>
              </a:defRPr>
            </a:pPr>
            <a:r>
              <a:t>Results filtered based on user's department permissions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114800"/>
            <a:ext cx="7315200" cy="685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425196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ED573"/>
                </a:solidFill>
              </a:defRPr>
            </a:pPr>
            <a:r>
              <a:t>4. Context Building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42519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748"/>
                </a:solidFill>
              </a:defRPr>
            </a:pPr>
            <a:r>
              <a:t>Retrieved documents augmented into prompt context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937760"/>
            <a:ext cx="7315200" cy="685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85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507492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856D6"/>
                </a:solidFill>
              </a:defRPr>
            </a:pPr>
            <a:r>
              <a:t>5. LLM Generation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50749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748"/>
                </a:solidFill>
              </a:defRPr>
            </a:pPr>
            <a:r>
              <a:t>Mistral 7B generates contextual response with citations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5760720"/>
            <a:ext cx="7315200" cy="685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AF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589788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AFFD9"/>
                </a:solidFill>
              </a:defRPr>
            </a:pPr>
            <a:r>
              <a:t>6. Quality Scoring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589788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748"/>
                </a:solidFill>
              </a:defRPr>
            </a:pPr>
            <a:r>
              <a:t>Confidence score (HIGH/MEDIUM/LOW) assigned to response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8A2BE2"/>
                </a:solidFill>
              </a:defRPr>
            </a:pPr>
            <a:r>
              <a:t>VECTOR DATABASE - CHROMADB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2011680" cy="1371600"/>
          </a:xfrm>
          <a:prstGeom prst="roundRect">
            <a:avLst/>
          </a:prstGeom>
          <a:solidFill>
            <a:srgbClr val="585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20116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135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65176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Indexed Documents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1828800"/>
            <a:ext cx="2011680" cy="1371600"/>
          </a:xfrm>
          <a:prstGeom prst="roundRect">
            <a:avLst/>
          </a:prstGeom>
          <a:solidFill>
            <a:srgbClr val="FF47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2011680"/>
            <a:ext cx="20116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384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65176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Embedding Dimensions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1828800"/>
            <a:ext cx="2011680" cy="1371600"/>
          </a:xfrm>
          <a:prstGeom prst="round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011680"/>
            <a:ext cx="20116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~20ms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65176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Search Speed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657600"/>
            <a:ext cx="6400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8A2BE2"/>
                </a:solidFill>
              </a:defRPr>
            </a:pPr>
            <a:r>
              <a:t>Key Features: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</a:defRPr>
            </a:pPr>
            <a:r>
              <a:t>• Semantic similarity search with cosine distance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</a:defRPr>
            </a:pPr>
            <a:r>
              <a:t>• Normalized embeddings using MiniLM-L6-v2 model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</a:defRPr>
            </a:pPr>
            <a:r>
              <a:t>• Efficient metadata filtering for RBAC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</a:defRPr>
            </a:pPr>
            <a:r>
              <a:t>• Persistent storage with automatic indexing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</a:defRPr>
            </a:pPr>
            <a:r>
              <a:t>• Support for multi-modal document types (CSV, Markdown)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4785"/>
                </a:solidFill>
              </a:defRPr>
            </a:pPr>
            <a:r>
              <a:t>SECURITY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645920"/>
            <a:ext cx="6400800" cy="77724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585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7830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5856D6"/>
                </a:solidFill>
              </a:defRPr>
            </a:pPr>
            <a:r>
              <a:t>🔐 JWT Authentication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0574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3748"/>
                </a:solidFill>
              </a:defRPr>
            </a:pPr>
            <a:r>
              <a:t>Secure token-based authentication with expiration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560320"/>
            <a:ext cx="6400800" cy="77724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F47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2697479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4785"/>
                </a:solidFill>
              </a:defRPr>
            </a:pPr>
            <a:r>
              <a:t>🛡️ RBAC Middleware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971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3748"/>
                </a:solidFill>
              </a:defRPr>
            </a:pPr>
            <a:r>
              <a:t>Role-based access control at API and data layer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3474720"/>
            <a:ext cx="6400800" cy="77724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3611879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8A2BE2"/>
                </a:solidFill>
              </a:defRPr>
            </a:pPr>
            <a:r>
              <a:t>📝 Audit Logging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886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3748"/>
                </a:solidFill>
              </a:defRPr>
            </a:pPr>
            <a:r>
              <a:t>Complete audit trail of all user queries and access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4389120"/>
            <a:ext cx="6400800" cy="77724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0" y="45262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D573"/>
                </a:solidFill>
              </a:defRPr>
            </a:pPr>
            <a:r>
              <a:t>🔒 Password Hashing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800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3748"/>
                </a:solidFill>
              </a:defRPr>
            </a:pPr>
            <a:r>
              <a:t>Bcrypt hashing for secure password storage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5303520"/>
            <a:ext cx="6400800" cy="77724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0" y="54406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8C00"/>
                </a:solidFill>
              </a:defRPr>
            </a:pPr>
            <a:r>
              <a:t>🚫 Department Filtering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7150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3748"/>
                </a:solidFill>
              </a:defRPr>
            </a:pPr>
            <a:r>
              <a:t>Automatic filtering based on user department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5856D6"/>
                </a:solidFill>
              </a:defRPr>
            </a:pPr>
            <a:r>
              <a:t>USE CASES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3200400" cy="1828800"/>
          </a:xfrm>
          <a:prstGeom prst="round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92024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Finance Queries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46888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Access financial reports</a:t>
            </a:r>
            <a:br/>
            <a:r>
              <a:t>Quarterly statements</a:t>
            </a:r>
            <a:br/>
            <a:r>
              <a:t>Budget information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645920"/>
            <a:ext cx="3200400" cy="1828800"/>
          </a:xfrm>
          <a:prstGeom prst="roundRect">
            <a:avLst/>
          </a:prstGeom>
          <a:solidFill>
            <a:srgbClr val="FF47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0" y="192024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HR Information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246888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Employee policies</a:t>
            </a:r>
            <a:br/>
            <a:r>
              <a:t>Payroll queries</a:t>
            </a:r>
            <a:br/>
            <a:r>
              <a:t>Benefits information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931920"/>
            <a:ext cx="3200400" cy="182880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420624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Marketing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75488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Campaign analytics</a:t>
            </a:r>
            <a:br/>
            <a:r>
              <a:t>Market research</a:t>
            </a:r>
            <a:br/>
            <a:r>
              <a:t>Performance reports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3931920"/>
            <a:ext cx="3200400" cy="1828800"/>
          </a:xfrm>
          <a:prstGeom prst="roundRect">
            <a:avLst/>
          </a:prstGeom>
          <a:solidFill>
            <a:srgbClr val="585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420624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Technical Docs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475488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API documentation</a:t>
            </a:r>
            <a:br/>
            <a:r>
              <a:t>Architecture guides</a:t>
            </a:r>
            <a:br/>
            <a:r>
              <a:t>Engineering specs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8A2BE2"/>
                </a:solidFill>
              </a:defRPr>
            </a:pPr>
            <a:r>
              <a:t>DEPLOYMENT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1828800"/>
            <a:ext cx="2286000" cy="1371600"/>
          </a:xfrm>
          <a:prstGeom prst="roundRect">
            <a:avLst/>
          </a:prstGeom>
          <a:solidFill>
            <a:srgbClr val="585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210312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FastAPI 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5603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RESTful API server</a:t>
            </a:r>
            <a:br/>
            <a:r>
              <a:t>Port 8000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828800"/>
            <a:ext cx="2286000" cy="1371600"/>
          </a:xfrm>
          <a:prstGeom prst="roundRect">
            <a:avLst/>
          </a:prstGeom>
          <a:solidFill>
            <a:srgbClr val="FF47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0" y="210312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Streamlit 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25603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Web interface</a:t>
            </a:r>
            <a:br/>
            <a:r>
              <a:t>Port 8501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3657600"/>
            <a:ext cx="2286000" cy="1371600"/>
          </a:xfrm>
          <a:prstGeom prst="round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0" y="393192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ChromaDB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43891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Vector database</a:t>
            </a:r>
            <a:br/>
            <a:r>
              <a:t>Persistent storage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3657600"/>
            <a:ext cx="2286000" cy="137160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0" y="393192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OpenRouter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43891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LLM provider</a:t>
            </a:r>
            <a:br/>
            <a:r>
              <a:t>Mistral 7B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5856D6"/>
                </a:solidFill>
              </a:defRPr>
            </a:pPr>
            <a:r>
              <a:t>KEY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/>
            </a:pPr>
            <a:r>
              <a:t>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16916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5856D6"/>
                </a:solidFill>
              </a:defRPr>
            </a:pPr>
            <a:r>
              <a:t>Faster Decision Making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965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3748"/>
                </a:solidFill>
              </a:defRPr>
            </a:pPr>
            <a:r>
              <a:t>Quick access to relevant information across departments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37744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/>
            </a:pPr>
            <a:r>
              <a:t>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24231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5856D6"/>
                </a:solidFill>
              </a:defRPr>
            </a:pPr>
            <a:r>
              <a:t>Enhanced Security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26974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3748"/>
                </a:solidFill>
              </a:defRPr>
            </a:pPr>
            <a:r>
              <a:t>Granular access control prevents data leaks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10896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/>
            </a:pPr>
            <a:r>
              <a:t>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31546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5856D6"/>
                </a:solidFill>
              </a:defRPr>
            </a:pPr>
            <a:r>
              <a:t>Cost Effective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34290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3748"/>
                </a:solidFill>
              </a:defRPr>
            </a:pPr>
            <a:r>
              <a:t>Reduces time spent searching for information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84048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/>
            </a:pPr>
            <a:r>
              <a:t>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38862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5856D6"/>
                </a:solidFill>
              </a:defRPr>
            </a:pPr>
            <a:r>
              <a:t>Improved Productivity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4160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3748"/>
                </a:solidFill>
              </a:defRPr>
            </a:pPr>
            <a:r>
              <a:t>Employees find answers instantly without manual 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57200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/>
            </a:pPr>
            <a:r>
              <a:t>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46177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5856D6"/>
                </a:solidFill>
              </a:defRPr>
            </a:pPr>
            <a:r>
              <a:t>Accurate Responses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4892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3748"/>
                </a:solidFill>
              </a:defRPr>
            </a:pPr>
            <a:r>
              <a:t>AI-powered semantic understanding with source citations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30352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/>
            </a:pPr>
            <a:r>
              <a:t>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5349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5856D6"/>
                </a:solidFill>
              </a:defRPr>
            </a:pPr>
            <a:r>
              <a:t>Easy Scalability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5623559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3748"/>
                </a:solidFill>
              </a:defRPr>
            </a:pPr>
            <a:r>
              <a:t>Add new documents and departments effortlessly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8A2BE2"/>
                </a:solidFill>
              </a:defRPr>
            </a:pPr>
            <a:r>
              <a:t>FUTURE ENHANCEMENTS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645920"/>
            <a:ext cx="6400800" cy="685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85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78308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5856D6"/>
                </a:solidFill>
              </a:defRPr>
            </a:pPr>
            <a:r>
              <a:t>Multi-language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02996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748"/>
                </a:solidFill>
              </a:defRPr>
            </a:pPr>
            <a:r>
              <a:t>Support for multiple languages in queries and documents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468880"/>
            <a:ext cx="6400800" cy="685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47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260604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4785"/>
                </a:solidFill>
              </a:defRPr>
            </a:pPr>
            <a:r>
              <a:t>Voice Integration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85292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748"/>
                </a:solidFill>
              </a:defRPr>
            </a:pPr>
            <a:r>
              <a:t>Voice-based query input and audio responses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3291840"/>
            <a:ext cx="6400800" cy="685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342900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ED573"/>
                </a:solidFill>
              </a:defRPr>
            </a:pPr>
            <a:r>
              <a:t>Advanced Analytics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67588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748"/>
                </a:solidFill>
              </a:defRPr>
            </a:pPr>
            <a:r>
              <a:t>Query analytics and usage patterns dashboard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4114800"/>
            <a:ext cx="6400800" cy="685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0" y="425196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8C00"/>
                </a:solidFill>
              </a:defRPr>
            </a:pPr>
            <a:r>
              <a:t>Document Versioning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49884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748"/>
                </a:solidFill>
              </a:defRPr>
            </a:pPr>
            <a:r>
              <a:t>Track document changes and maintain version history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4937760"/>
            <a:ext cx="6400800" cy="685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0" y="507492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8A2BE2"/>
                </a:solidFill>
              </a:defRPr>
            </a:pPr>
            <a:r>
              <a:t>Mobile Application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32180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748"/>
                </a:solidFill>
              </a:defRPr>
            </a:pPr>
            <a:r>
              <a:t>Native mobile apps for iOS and Android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5760720"/>
            <a:ext cx="6400800" cy="685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85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28800" y="589788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5856D6"/>
                </a:solidFill>
              </a:defRPr>
            </a:pPr>
            <a:r>
              <a:t>Integration APIs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614476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748"/>
                </a:solidFill>
              </a:defRPr>
            </a:pPr>
            <a:r>
              <a:t>Connect with Slack, Teams, and other tools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 rot="1800000">
            <a:off x="457200" y="457200"/>
            <a:ext cx="1371600" cy="1371600"/>
          </a:xfrm>
          <a:prstGeom prst="roundRect">
            <a:avLst/>
          </a:prstGeom>
          <a:solidFill>
            <a:srgbClr val="3AF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 rot="900000">
            <a:off x="7315200" y="5029200"/>
            <a:ext cx="1097280" cy="1097280"/>
          </a:xfrm>
          <a:prstGeom prst="roundRect">
            <a:avLst/>
          </a:prstGeom>
          <a:solidFill>
            <a:srgbClr val="FF47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 rot="2700000">
            <a:off x="1371600" y="5486400"/>
            <a:ext cx="914400" cy="914400"/>
          </a:xfrm>
          <a:prstGeom prst="round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THANK YOU</a:t>
            </a:r>
          </a:p>
          <a:p>
            <a:br/>
            <a:pPr algn="ctr">
              <a:defRPr sz="2400">
                <a:solidFill>
                  <a:srgbClr val="3AFFD9"/>
                </a:solidFill>
              </a:defRPr>
            </a:pPr>
            <a:r>
              <a:t>Enterprise-Ready AI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3AFFD9"/>
                </a:solidFill>
              </a:defRPr>
            </a:pPr>
            <a:r>
              <a:t>THYNK UNLIMITED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WE LEARN FOR THE FUTURE</a:t>
            </a:r>
          </a:p>
          <a:p>
            <a:br/>
            <a:pPr algn="ctr">
              <a:defRPr sz="1200">
                <a:solidFill>
                  <a:srgbClr val="FFFFFF"/>
                </a:solidFill>
              </a:defRPr>
            </a:pPr>
            <a:r>
              <a:t>Role-Based Access Chatbot • Secure • Intelligent • Scalable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
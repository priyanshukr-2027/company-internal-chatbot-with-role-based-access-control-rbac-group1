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800000">
            <a:off x="7315200" y="457200"/>
            <a:ext cx="1371600" cy="13716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900000">
            <a:off x="457200" y="5029200"/>
            <a:ext cx="1097280" cy="109728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ROLE-BASED ACCESS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AFFD9"/>
                </a:solidFill>
              </a:defRPr>
            </a:pPr>
            <a:r>
              <a:t>AI-POWERED SEMANTIC SEARCH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WITH RAG PIPELINE &amp; RBAC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AFFD9"/>
                </a:solidFill>
              </a:defRPr>
            </a:pPr>
            <a:r>
              <a:t>ENTERPRISE-GRADE SECURITY • INTELLIGENT RESPONSES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361EE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400" b="1">
                <a:solidFill>
                  <a:srgbClr val="FF4785"/>
                </a:solidFill>
              </a:defRPr>
            </a:pPr>
            <a:r>
              <a:t>Problem:</a:t>
            </a:r>
          </a:p>
          <a:p>
            <a:br/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Internal company data scattered across departments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No role-based access control for sensitive information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Traditional keyword search fails to understand context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Security risks with unrestricted document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400" b="1">
                <a:solidFill>
                  <a:srgbClr val="48BB78"/>
                </a:solidFill>
              </a:defRPr>
            </a:pPr>
            <a:r>
              <a:t>Solution:</a:t>
            </a:r>
          </a:p>
          <a:p>
            <a:br/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AI-powered semantic search with RAG pipeline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Granular role-based access control (RBAC)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Context-aware responses using Mistral 7B LLM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Source attribution &amp; confidence scoring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361EE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4785"/>
                </a:solidFill>
              </a:defRPr>
            </a:pPr>
            <a:r>
              <a:t>RBAC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94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Department-based 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61EE"/>
                </a:solidFill>
              </a:defRPr>
            </a:pPr>
            <a:r>
              <a:t>LLM-Powered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383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Mistral 7B for intelligent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8BB78"/>
                </a:solidFill>
              </a:defRPr>
            </a:pPr>
            <a:r>
              <a:t>Source 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72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Citations with confidence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49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394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8936"/>
                </a:solidFill>
              </a:defRPr>
            </a:pPr>
            <a:r>
              <a:t>High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760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~20ms search, ~2.5s total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361EE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34640"/>
            <a:ext cx="914400" cy="73152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834640"/>
            <a:ext cx="914400" cy="73152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8346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834640"/>
            <a:ext cx="914400" cy="73152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8346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RBAC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834640"/>
            <a:ext cx="914400" cy="7315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8346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Semantic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834640"/>
            <a:ext cx="914400" cy="73152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8346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LLM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914400" cy="731520"/>
          </a:xfrm>
          <a:prstGeom prst="roundRect">
            <a:avLst/>
          </a:prstGeom>
          <a:solidFill>
            <a:srgbClr val="3AF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2D3748"/>
                </a:solidFill>
              </a:defRPr>
            </a:pPr>
            <a:r>
              <a:t>ChromaDB</a:t>
            </a:r>
            <a:br/>
            <a:r>
              <a:t>135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2D3748"/>
                </a:solidFill>
              </a:defRPr>
            </a:pPr>
            <a:r>
              <a:t>Mistral 7B</a:t>
            </a:r>
            <a:br/>
            <a:r>
              <a:t>OpenRouter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361EE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361EE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FastAPI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Python 3.8+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SQLAlchemy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JWT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4785"/>
                </a:solidFill>
              </a:defRPr>
            </a:pPr>
            <a:r>
              <a:t>AI/ML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286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Mistral 7B (OpenRouter)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sentence-transformers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MiniLM-L6-v2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8BB78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ChromaDB (Vector Store)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SQLite (User DB)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135 Indexed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11480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RBAC Middleware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JWT Tokens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Department-based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361EE"/>
                </a:solidFill>
              </a:defRPr>
            </a:pPr>
            <a:r>
              <a:t>ROLE-BASED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BB78"/>
                </a:solidFill>
              </a:defRPr>
            </a:pPr>
            <a:r>
              <a:t>Finance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00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Financial Reports</a:t>
            </a:r>
            <a:br/>
            <a:r>
              <a:t>• Quarterly Statements</a:t>
            </a:r>
            <a:br/>
            <a:r>
              <a:t>• Budget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2316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785"/>
                </a:solidFill>
              </a:defRPr>
            </a:pPr>
            <a:r>
              <a:t>HR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Employee Data</a:t>
            </a:r>
            <a:br/>
            <a:r>
              <a:t>• Payroll Information</a:t>
            </a:r>
            <a:br/>
            <a:r>
              <a:t>• HR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520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D8936"/>
                </a:solidFill>
              </a:defRPr>
            </a:pPr>
            <a:r>
              <a:t>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520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Marketing Reports</a:t>
            </a:r>
            <a:br/>
            <a:r>
              <a:t>• Campaign Analytics</a:t>
            </a:r>
            <a:br/>
            <a:r>
              <a:t>• Market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4340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361EE"/>
                </a:solidFill>
              </a:defRPr>
            </a:pPr>
            <a: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80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Technical Docs</a:t>
            </a:r>
            <a:br/>
            <a:r>
              <a:t>• Architecture Plans</a:t>
            </a:r>
            <a:br/>
            <a:r>
              <a:t>• API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30352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F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440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AFFD9"/>
                </a:solidFill>
              </a:defRPr>
            </a:pPr>
            <a:r>
              <a:t>General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440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Company Handbook</a:t>
            </a:r>
            <a:br/>
            <a:r>
              <a:t>• General Policies</a:t>
            </a:r>
            <a:br/>
            <a:r>
              <a:t>• Public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361EE"/>
                </a:solidFill>
              </a:defRPr>
            </a:pPr>
            <a:r>
              <a:t>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3200400" cy="16459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~20ms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Semantic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3200400" cy="164592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~1.5-3.5s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834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End-to-End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114800"/>
            <a:ext cx="3200400" cy="164592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Indexed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14800"/>
            <a:ext cx="3200400" cy="164592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389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120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Embedding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361EE"/>
                </a:solidFill>
              </a:defRPr>
            </a:pPr>
            <a:r>
              <a:t>RAG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61EE"/>
                </a:solidFill>
              </a:defRPr>
            </a:pPr>
            <a:r>
              <a:t>1. Query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83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User query analyzed and embedded using MiniLM-L6-v2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4785"/>
                </a:solidFill>
              </a:defRPr>
            </a:pPr>
            <a:r>
              <a:t>2. Semantic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ChromaDB finds top-k relevant documents with cosine similarity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936"/>
                </a:solidFill>
              </a:defRPr>
            </a:pPr>
            <a:r>
              <a:t>3. RBAC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Results filtered based on user's department permissions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51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BB78"/>
                </a:solidFill>
              </a:defRPr>
            </a:pPr>
            <a:r>
              <a:t>4. Context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51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Retrieved documents augmented into prompt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3776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61EE"/>
                </a:solidFill>
              </a:defRPr>
            </a:pPr>
            <a:r>
              <a:t>5. LLM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Mistral 7B generates contextual response with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2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F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8978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FFD9"/>
                </a:solidFill>
              </a:defRPr>
            </a:pPr>
            <a:r>
              <a:t>6. Quality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897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Confidence score (HIGH/MEDIUM/LOW) assigned to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800000">
            <a:off x="457200" y="457200"/>
            <a:ext cx="1371600" cy="1371600"/>
          </a:xfrm>
          <a:prstGeom prst="roundRect">
            <a:avLst/>
          </a:prstGeom>
          <a:solidFill>
            <a:srgbClr val="3AF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900000">
            <a:off x="7315200" y="5029200"/>
            <a:ext cx="1097280" cy="109728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br/>
            <a:pPr algn="ctr">
              <a:defRPr sz="2400">
                <a:solidFill>
                  <a:srgbClr val="3AFFD9"/>
                </a:solidFill>
              </a:defRPr>
            </a:pPr>
            <a:r>
              <a:t>Enterprise-Ready AI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Role-Based Access Chatbot with RAG Pipeline</a:t>
            </a:r>
          </a:p>
          <a:p>
            <a:pPr algn="ctr">
              <a:defRPr sz="1400">
                <a:solidFill>
                  <a:srgbClr val="3AFFD9"/>
                </a:solidFill>
              </a:defRPr>
            </a:pPr>
            <a:r>
              <a:t>Secure • Intelligent • 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